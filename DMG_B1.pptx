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327423-E4D8-4E16-A8FF-9036B760B5A8}" v="730" dt="2026-05-06T16:45:02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2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32DD0-8129-0112-0ABF-05DE9F3AF4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F781144-C539-2628-A9E7-A483257E2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48424-724E-6B22-BADE-CED32577A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0E8191-886A-3A79-E064-3D819D48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260141-9C39-0D10-0C51-DB61F508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8542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19121B-A1F5-DC88-359A-2B75D4F0F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D328F0-E307-1729-7462-FA4EC0353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96DDE7-F3E4-5086-F1F3-00FC343F5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0C3AC2-C262-8706-340F-C39D06B74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2935D6-94F8-371F-B08D-00CD2D777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1343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8E497-8EB2-BB89-A894-779148016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3935625-F3AE-89F8-8D01-400F63217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1F6422-A56D-3D2D-986F-0B923373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945EF3-E0B0-4E27-2B76-FB5A4FEF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43F502-371F-F7F8-D397-F90D2D168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927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90F1A-5C1D-078B-0F77-99244576A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015AC6-F94B-1191-5A12-5E164865F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C3D9C1-D5BA-795B-9738-040ECA608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CF4CAA-0841-DA36-8B3F-16CA4350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7386C-CF99-381A-10D8-F177713ED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6520DCC-E768-0B2F-0703-B0165C02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3711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68DA45-B418-7741-A2A1-A7FC6E56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D06F76-1611-59AB-5AE2-24AE7224C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139FBE3-A8C5-6E48-9C0F-C97F59B1B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2F563F-80DE-8188-19FF-3F0D3EE1BB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AB7AD6-611A-0A11-89BD-DD5653B1E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3E58F2D-469C-CB63-9817-CCFD6E498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232D07-E735-5A5C-840D-7F0E03D02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67F7EC0-99D0-B7CA-E7E8-78491A456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867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7CB558-1307-6296-A5B5-7B27F027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4209AA-467E-ADFC-8917-830528552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7BDAB3-07BB-2B1B-498A-BB4E430C1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7C379E-3162-D68A-81AF-CCFDC95B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163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DFFBED6-74E2-4CDD-FFCF-B8212340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54CA53-755B-4589-99DF-BC71DCDCD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B02F23-61B8-3E54-D166-471DF1AF1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906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2C710-3940-238A-4CE4-125B82BE7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99704B-8532-51E2-521F-765FA70B8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67D46-71AF-CF86-C607-943B0EAC2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D205B7-E3AD-E525-E485-F2E666487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4ED009-B6DB-0F34-76E9-EF3836E6A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C06020-A99B-96AF-31A5-E884D15E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778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5F7026-8DA0-FA20-81D9-122A81C9F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9340E32-4D02-FC92-1A4A-EF7553BCE1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EFA83F-98B7-1165-2FD9-7CC0C1B9E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15814E-D55E-AC02-2BCD-BF44F0299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D774C9-697F-32C7-A989-2652BF22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B40B64-247F-DFF0-5F00-E7D2726B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6000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DA2D11-FE07-AAA8-7A1D-0F56F1D1B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4A796D-AF24-46CA-CDAD-7EA52AE69B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A3D49A-F837-A3B8-51B5-21C339D77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B2A3C9-8F55-3444-4994-C2E9E109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A8A58F-7821-1B84-3320-9E48788CA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05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95C3107-CD3E-2B6D-82DF-2682424D11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68D91E1-CF0A-8232-8663-C32C3A3A81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6F7A23-1848-9063-8697-D0C48EE6A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3A6BE4-3069-3A46-94D9-7789BB9F4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9D90CB-B5F5-9764-D1C0-191DBB15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2658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40CF9E4-AADF-D71B-C1B5-C6E0C6373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69C0A3-2432-3A33-F076-FB2CA5855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4AED28-CC08-6892-8001-C776A4A31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8FC19F-D947-4712-C1D5-38AA9F744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40B75-EFE7-DED9-6961-EAEC9C6A3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058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7FC345-5F78-A536-34AF-A09FD43A7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Datenmanagement</a:t>
            </a:r>
            <a:br>
              <a:rPr lang="de-DE" dirty="0"/>
            </a:br>
            <a:r>
              <a:rPr lang="de-DE" dirty="0"/>
              <a:t>Praktikum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B8E0A4D-305A-DE10-AD84-32CCA8ED00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Übung B1: </a:t>
            </a:r>
          </a:p>
          <a:p>
            <a:r>
              <a:rPr lang="de-DE" dirty="0"/>
              <a:t>Explorative Analyse und Regression</a:t>
            </a:r>
          </a:p>
          <a:p>
            <a:r>
              <a:rPr lang="de-DE" dirty="0"/>
              <a:t>Road Traffic Datensatz</a:t>
            </a: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0719AE6C-6100-3DB8-D0C7-A817F1EC807A}"/>
              </a:ext>
            </a:extLst>
          </p:cNvPr>
          <p:cNvSpPr txBox="1">
            <a:spLocks/>
          </p:cNvSpPr>
          <p:nvPr/>
        </p:nvSpPr>
        <p:spPr>
          <a:xfrm>
            <a:off x="1524000" y="518218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Von:</a:t>
            </a:r>
            <a:br>
              <a:rPr lang="de-DE" sz="1600" dirty="0"/>
            </a:br>
            <a:br>
              <a:rPr lang="de-DE" sz="1600" dirty="0"/>
            </a:br>
            <a:r>
              <a:rPr lang="de-DE" sz="1600" dirty="0"/>
              <a:t>Benjamin Morina</a:t>
            </a:r>
          </a:p>
          <a:p>
            <a:r>
              <a:rPr lang="de-DE" sz="1600"/>
              <a:t>Jacob Wolf</a:t>
            </a:r>
          </a:p>
          <a:p>
            <a:r>
              <a:rPr lang="de-DE" sz="1600" dirty="0"/>
              <a:t>Steven</a:t>
            </a:r>
          </a:p>
        </p:txBody>
      </p:sp>
    </p:spTree>
    <p:extLst>
      <p:ext uri="{BB962C8B-B14F-4D97-AF65-F5344CB8AC3E}">
        <p14:creationId xmlns:p14="http://schemas.microsoft.com/office/powerpoint/2010/main" val="2528502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D98C5-3C47-0DDF-1D2F-EE28C836C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14800" cy="1325563"/>
          </a:xfrm>
        </p:spPr>
        <p:txBody>
          <a:bodyPr/>
          <a:lstStyle/>
          <a:p>
            <a:r>
              <a:rPr lang="de-DE" dirty="0"/>
              <a:t>Road Traffic – Unser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A03A0-A077-1540-825B-EAB111EE9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14800" cy="4351338"/>
          </a:xfrm>
        </p:spPr>
        <p:txBody>
          <a:bodyPr/>
          <a:lstStyle/>
          <a:p>
            <a:r>
              <a:rPr lang="de-DE" dirty="0"/>
              <a:t>Was ist das Ziel? </a:t>
            </a:r>
          </a:p>
          <a:p>
            <a:pPr lvl="1"/>
            <a:r>
              <a:rPr lang="de-DE" sz="1400" i="1" dirty="0"/>
              <a:t>Verkehr an Kreuzung 6 vorhersagen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47899138-E1BD-FA3C-7647-BA10B4654A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86" y="3140869"/>
            <a:ext cx="7847076" cy="172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729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9CCC0-C85E-0230-05AE-C65602A4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 liegen die Daten? (Lage)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9168CE-F0DA-350C-D159-52EED5DF8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95527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dirty="0"/>
              <a:t>Große Unterschiede bei den Mittelwerten </a:t>
            </a:r>
            <a:r>
              <a:rPr lang="de-DE"/>
              <a:t>erkennbar, deutliche </a:t>
            </a:r>
            <a:r>
              <a:rPr lang="de-DE" dirty="0"/>
              <a:t>Unterschiede in der Verkehrslage.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09EACAA-182B-B534-4893-42A3C47EE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001294"/>
            <a:ext cx="5905500" cy="1323975"/>
          </a:xfrm>
          <a:prstGeom prst="rect">
            <a:avLst/>
          </a:prstGeom>
        </p:spPr>
      </p:pic>
      <p:pic>
        <p:nvPicPr>
          <p:cNvPr id="4" name="Grafik 3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76776FD0-A79A-88E7-D99E-EA119F4F5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369" y="1522838"/>
            <a:ext cx="543877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47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1C5CB-C8C9-F27F-80C4-92A6CDB6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Sollte der Datensatz standardisiert werden?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749665-5BBF-A242-2799-3748EF51F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Cross 1 hat Werte bis 352, Cross 5 nur bis 193. Das sind sehr unterschiedliche Skalen, also: Ja, standardisieren.</a:t>
            </a:r>
          </a:p>
          <a:p>
            <a:r>
              <a:rPr lang="de-DE" dirty="0"/>
              <a:t>Ohne Standardisierung würden Merkmale mit großen Zahlen das Modell dominieren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5176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40360E-6322-9245-6AFA-9A6368DCA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00" y="26987"/>
            <a:ext cx="5257800" cy="1325563"/>
          </a:xfrm>
        </p:spPr>
        <p:txBody>
          <a:bodyPr/>
          <a:lstStyle/>
          <a:p>
            <a:r>
              <a:rPr lang="de-DE" dirty="0"/>
              <a:t>Wie stark streuen die Daten?</a:t>
            </a:r>
          </a:p>
        </p:txBody>
      </p:sp>
      <p:pic>
        <p:nvPicPr>
          <p:cNvPr id="3" name="Grafik 2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3627CEFB-4846-BE43-F1FD-4DE5EA38B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707" y="1585049"/>
            <a:ext cx="3654426" cy="3185584"/>
          </a:xfrm>
          <a:prstGeom prst="rect">
            <a:avLst/>
          </a:prstGeom>
        </p:spPr>
      </p:pic>
      <p:pic>
        <p:nvPicPr>
          <p:cNvPr id="4" name="Grafik 3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6558E6-A06E-E075-4752-9C8EDF91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569" y="1585048"/>
            <a:ext cx="3657601" cy="3090334"/>
          </a:xfrm>
          <a:prstGeom prst="rect">
            <a:avLst/>
          </a:prstGeom>
        </p:spPr>
      </p:pic>
      <p:pic>
        <p:nvPicPr>
          <p:cNvPr id="5" name="Grafik 4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581D6EC6-BC7E-A8AD-8F16-D65D1EB3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094" y="1553298"/>
            <a:ext cx="3656537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010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2E8F17-DCDF-6AFD-7695-F618F24E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543" y="0"/>
            <a:ext cx="3574143" cy="1325563"/>
          </a:xfrm>
        </p:spPr>
        <p:txBody>
          <a:bodyPr/>
          <a:lstStyle/>
          <a:p>
            <a:r>
              <a:rPr lang="de-DE" dirty="0"/>
              <a:t>Original vs. Standardisiert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7439F0-6D29-6532-4772-F5827CCD5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543" y="1625147"/>
            <a:ext cx="3806371" cy="466725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Nach der Standardisierung liegen alle Kreuzungen auf derselben Skala. Ausreißer und Verteilungsform bleiben sichtbar, sind aber jetzt vergleichbar.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4DFF2B8-6941-4733-7B4A-24196F055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395" y="424543"/>
            <a:ext cx="3892664" cy="300445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B5654C5-261F-6BD5-5D52-600A8816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089" y="3705225"/>
            <a:ext cx="3866685" cy="301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329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D493B-9BE2-31E7-7AAC-EFFE44EC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Welches Merkmal hängt am stärksten mit Cross 6 zusammen?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9322676A-AB09-C251-5F45-6D7C70D4C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209509"/>
            <a:ext cx="12209482" cy="225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848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C4405D-DE1B-6144-F006-26847A7D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218235" cy="1344148"/>
          </a:xfrm>
        </p:spPr>
        <p:txBody>
          <a:bodyPr/>
          <a:lstStyle/>
          <a:p>
            <a:r>
              <a:rPr lang="de-DE" dirty="0"/>
              <a:t>Wie stark korrelieren die Merkmale mit Cross 6?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17679B-98C6-C1E5-4A59-804D25AD7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5582" cy="435133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de-DE" b="1"/>
              <a:t>Positiver Wert:</a:t>
            </a:r>
            <a:br>
              <a:rPr lang="de-DE" dirty="0"/>
            </a:br>
            <a:r>
              <a:rPr lang="de-DE"/>
              <a:t>Verkehr an Kreuzung X</a:t>
            </a:r>
            <a:br>
              <a:rPr lang="de-DE" dirty="0"/>
            </a:br>
            <a:r>
              <a:rPr lang="de-DE"/>
              <a:t>steigt, wenn Verkehr an Kreuzung 6 steigt.</a:t>
            </a:r>
          </a:p>
          <a:p>
            <a:endParaRPr lang="de-DE" dirty="0"/>
          </a:p>
          <a:p>
            <a:r>
              <a:rPr lang="de-DE" dirty="0"/>
              <a:t> </a:t>
            </a:r>
            <a:r>
              <a:rPr lang="de-DE" b="1"/>
              <a:t>Negativer Wert:</a:t>
            </a:r>
            <a:br>
              <a:rPr lang="de-DE" dirty="0"/>
            </a:br>
            <a:r>
              <a:rPr lang="de-DE"/>
              <a:t>Verkehr an Kreuzung X fällt, wenn Verkehr an Kreuzung 6 steigt</a:t>
            </a:r>
          </a:p>
          <a:p>
            <a:endParaRPr lang="de-DE" dirty="0"/>
          </a:p>
          <a:p>
            <a:r>
              <a:rPr lang="de-DE" dirty="0"/>
              <a:t>Kreuzung 1 korreliert am stärksten mit Kreuzung 6 </a:t>
            </a:r>
            <a:r>
              <a:rPr lang="de-DE"/>
              <a:t>anhand der Merkmale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016D752-0BF7-5B47-B9D8-BC9FF1EBC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855" y="2633662"/>
            <a:ext cx="2466975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72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D092B9-2DAA-8D20-F7BE-3B2E1730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gut kann das Modell Cross 6 vorhersagen?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C70FE5-D462-C34F-2C9E-B38D0551A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Ergebnis:</a:t>
            </a:r>
            <a:r>
              <a:rPr lang="de-DE" dirty="0"/>
              <a:t> R² = 0,823</a:t>
            </a:r>
          </a:p>
          <a:p>
            <a:r>
              <a:rPr lang="de-DE" dirty="0"/>
              <a:t>Das Modell nutzt alle 5 Kreuzungen als Eingabe. Es erklärt ~82% des Verkehrsgeschehens an Cross 6.</a:t>
            </a:r>
          </a:p>
          <a:p>
            <a:r>
              <a:rPr lang="de-DE" dirty="0"/>
              <a:t>Daten wurden z-standardisiert übergeben</a:t>
            </a:r>
          </a:p>
        </p:txBody>
      </p:sp>
    </p:spTree>
    <p:extLst>
      <p:ext uri="{BB962C8B-B14F-4D97-AF65-F5344CB8AC3E}">
        <p14:creationId xmlns:p14="http://schemas.microsoft.com/office/powerpoint/2010/main" val="199100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D093D6-EEBA-65FF-F54B-67970B83B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Polynomiale</a:t>
            </a:r>
            <a:r>
              <a:rPr lang="de-DE" dirty="0"/>
              <a:t> Regressionsmodelle</a:t>
            </a:r>
          </a:p>
        </p:txBody>
      </p:sp>
      <p:pic>
        <p:nvPicPr>
          <p:cNvPr id="4" name="Inhaltsplatzhalter 3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F608E13-AEC3-CEF5-AFA7-2B3FB9CA67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663" y="2143033"/>
            <a:ext cx="11946673" cy="327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29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460694-95A8-8BA8-B0B0-FBF82992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Polynomiale Regressionsmodelle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3C7537-7D1D-BCE7-0FC1-F5EF49C83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499625" cy="43420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Polynom 1. Or</a:t>
            </a: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simple Gerade limitiert den Trend stark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  <a:ea typeface="+mn-lt"/>
                <a:cs typeface="+mn-lt"/>
              </a:rPr>
              <a:t>durch fehlende Krümmung geht </a:t>
            </a:r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Varianz verloren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 err="1">
                <a:highlight>
                  <a:srgbClr val="FFFFFF"/>
                </a:highlight>
                <a:ea typeface="+mn-lt"/>
                <a:cs typeface="+mn-lt"/>
              </a:rPr>
              <a:t>Underfitting</a:t>
            </a:r>
            <a:endParaRPr lang="de-DE" sz="2400" b="1">
              <a:highlight>
                <a:srgbClr val="FFFFFF"/>
              </a:highlight>
              <a:ea typeface="+mn-lt"/>
              <a:cs typeface="+mn-lt"/>
            </a:endParaRPr>
          </a:p>
          <a:p>
            <a:endParaRPr lang="de-DE" b="1" dirty="0">
              <a:highlight>
                <a:srgbClr val="FFFFFF"/>
              </a:highlight>
            </a:endParaRPr>
          </a:p>
          <a:p>
            <a:endParaRPr lang="de-DE" b="1" dirty="0">
              <a:highlight>
                <a:srgbClr val="FFFFFF"/>
              </a:highlight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FF00C297-F5DF-2705-3EB2-34E20C31EDB4}"/>
              </a:ext>
            </a:extLst>
          </p:cNvPr>
          <p:cNvSpPr txBox="1">
            <a:spLocks/>
          </p:cNvSpPr>
          <p:nvPr/>
        </p:nvSpPr>
        <p:spPr>
          <a:xfrm>
            <a:off x="4354552" y="1829342"/>
            <a:ext cx="3499624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Polynom 2. Or</a:t>
            </a: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Bessere Glättung der Werte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</a:rPr>
              <a:t>Optimaler </a:t>
            </a:r>
            <a:r>
              <a:rPr lang="de-DE" sz="2400">
                <a:highlight>
                  <a:srgbClr val="FFFFFF"/>
                </a:highlight>
              </a:rPr>
              <a:t>Kompromiss zwischen Bias und Varianz</a:t>
            </a:r>
            <a:endParaRPr lang="de-DE" sz="2400" dirty="0">
              <a:highlight>
                <a:srgbClr val="FFFFFF"/>
              </a:highlight>
            </a:endParaRP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F8373812-FE0D-347E-B3AB-F2453BBE84C4}"/>
              </a:ext>
            </a:extLst>
          </p:cNvPr>
          <p:cNvSpPr txBox="1">
            <a:spLocks/>
          </p:cNvSpPr>
          <p:nvPr/>
        </p:nvSpPr>
        <p:spPr>
          <a:xfrm>
            <a:off x="7820722" y="1829342"/>
            <a:ext cx="3546088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Polynom 3. Or</a:t>
            </a: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</a:rPr>
              <a:t>Unnötig </a:t>
            </a:r>
            <a:r>
              <a:rPr lang="de-DE" sz="2400">
                <a:highlight>
                  <a:srgbClr val="FFFFFF"/>
                </a:highlight>
              </a:rPr>
              <a:t>Komplex, da kein Mehrwehrt im Vergleich zu 2. Grad erkennbar ist</a:t>
            </a:r>
            <a:endParaRPr lang="de-DE" sz="2400" dirty="0">
              <a:highlight>
                <a:srgbClr val="FFFFFF"/>
              </a:highlight>
            </a:endParaRPr>
          </a:p>
          <a:p>
            <a:endParaRPr lang="de-DE" sz="2400" b="1" dirty="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05767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A1554-9CC6-3656-B847-7C0DAAD44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76332" cy="1502123"/>
          </a:xfrm>
        </p:spPr>
        <p:txBody>
          <a:bodyPr/>
          <a:lstStyle/>
          <a:p>
            <a:r>
              <a:rPr lang="de-DE"/>
              <a:t>Klassifikationsproblem – Logische Regression</a:t>
            </a:r>
          </a:p>
        </p:txBody>
      </p:sp>
      <p:pic>
        <p:nvPicPr>
          <p:cNvPr id="4" name="Inhaltsplatzhalter 3" descr="Ein Bild, das Text, Screenshot, Diagramm, Farbigkeit enthält.&#10;&#10;KI-generierte Inhalte können fehlerhaft sein.">
            <a:extLst>
              <a:ext uri="{FF2B5EF4-FFF2-40B4-BE49-F238E27FC236}">
                <a16:creationId xmlns:a16="http://schemas.microsoft.com/office/drawing/2014/main" id="{BEC0B363-D194-34BA-DBA8-00E12DDD45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1819" y="1274820"/>
            <a:ext cx="5788412" cy="484892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E7254B3-CA87-FE1C-8CAE-5068F697F1EB}"/>
              </a:ext>
            </a:extLst>
          </p:cNvPr>
          <p:cNvSpPr txBox="1"/>
          <p:nvPr/>
        </p:nvSpPr>
        <p:spPr>
          <a:xfrm>
            <a:off x="574856" y="3431838"/>
            <a:ext cx="6311587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 dirty="0"/>
              <a:t>Klassifika</a:t>
            </a:r>
            <a:r>
              <a:rPr lang="de-DE" sz="2400" b="1" dirty="0">
                <a:solidFill>
                  <a:srgbClr val="000000"/>
                </a:solidFill>
                <a:latin typeface="Aptos"/>
              </a:rPr>
              <a:t>tionswerte:</a:t>
            </a:r>
            <a:br>
              <a:rPr lang="de-DE" sz="2400" b="1" dirty="0">
                <a:latin typeface="Aptos"/>
              </a:rPr>
            </a:br>
            <a:r>
              <a:rPr lang="de-DE" sz="2400" dirty="0"/>
              <a:t>x &lt;= 20 :   wenig </a:t>
            </a:r>
            <a:r>
              <a:rPr lang="de-DE" sz="2400" dirty="0" err="1"/>
              <a:t>bis kein Verkehr</a:t>
            </a:r>
            <a:r>
              <a:rPr lang="de-DE" sz="2400" dirty="0"/>
              <a:t>, 0</a:t>
            </a:r>
            <a:br>
              <a:rPr lang="de-DE" sz="2400" dirty="0"/>
            </a:br>
            <a:r>
              <a:rPr lang="de-DE" sz="2400" dirty="0"/>
              <a:t>20 &lt; x &lt;= 100 :  mittelmäßig viel Verkehr, 1</a:t>
            </a:r>
            <a:br>
              <a:rPr lang="de-DE" sz="2400" dirty="0"/>
            </a:br>
            <a:r>
              <a:rPr lang="de-DE" sz="2400" dirty="0"/>
              <a:t>x &gt; 100 :   viel bis sehr viel Verkehr, 2</a:t>
            </a:r>
            <a:endParaRPr lang="de-DE" sz="2400" dirty="0" err="1"/>
          </a:p>
        </p:txBody>
      </p:sp>
    </p:spTree>
    <p:extLst>
      <p:ext uri="{BB962C8B-B14F-4D97-AF65-F5344CB8AC3E}">
        <p14:creationId xmlns:p14="http://schemas.microsoft.com/office/powerpoint/2010/main" val="372744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Breitbild</PresentationFormat>
  <Paragraphs>31</Paragraphs>
  <Slides>12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3" baseType="lpstr">
      <vt:lpstr>Office</vt:lpstr>
      <vt:lpstr>Datenmanagement Praktikum</vt:lpstr>
      <vt:lpstr>Road Traffic – Unser Datensatz</vt:lpstr>
      <vt:lpstr>Wo liegen die Daten? (Lage)</vt:lpstr>
      <vt:lpstr>Sollte der Datensatz standardisiert werden?</vt:lpstr>
      <vt:lpstr>Wie stark streuen die Daten?</vt:lpstr>
      <vt:lpstr>Original vs. Standardisiert</vt:lpstr>
      <vt:lpstr>Welches Merkmal hängt am stärksten mit Cross 6 zusammen?</vt:lpstr>
      <vt:lpstr>Wie stark korrelieren die Merkmale mit Cross 6?</vt:lpstr>
      <vt:lpstr>Wie gut kann das Modell Cross 6 vorhersagen?</vt:lpstr>
      <vt:lpstr>Polynomiale Regressionsmodelle</vt:lpstr>
      <vt:lpstr>Polynomiale Regressionsmodelle</vt:lpstr>
      <vt:lpstr>Klassifikationsproblem – Logische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Morina</dc:creator>
  <cp:lastModifiedBy>Benjamin Morina</cp:lastModifiedBy>
  <cp:revision>231</cp:revision>
  <dcterms:created xsi:type="dcterms:W3CDTF">2026-05-06T13:04:32Z</dcterms:created>
  <dcterms:modified xsi:type="dcterms:W3CDTF">2026-05-06T16:46:00Z</dcterms:modified>
</cp:coreProperties>
</file>